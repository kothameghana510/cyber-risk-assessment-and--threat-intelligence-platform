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</p:sldIdLst>
  <p:sldSz cy="10287000" cx="18288000"/>
  <p:notesSz cx="6858000" cy="9144000"/>
  <p:embeddedFontLst>
    <p:embeddedFont>
      <p:font typeface="Poppins"/>
      <p:regular r:id="rId19"/>
      <p:bold r:id="rId20"/>
      <p:italic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Poppins-bold.fntdata"/><Relationship Id="rId11" Type="http://schemas.openxmlformats.org/officeDocument/2006/relationships/slide" Target="slides/slide6.xml"/><Relationship Id="rId22" Type="http://schemas.openxmlformats.org/officeDocument/2006/relationships/font" Target="fonts/Poppins-boldItalic.fntdata"/><Relationship Id="rId10" Type="http://schemas.openxmlformats.org/officeDocument/2006/relationships/slide" Target="slides/slide5.xml"/><Relationship Id="rId21" Type="http://schemas.openxmlformats.org/officeDocument/2006/relationships/font" Target="fonts/Poppins-italic.fntdata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5" Type="http://schemas.openxmlformats.org/officeDocument/2006/relationships/notesMaster" Target="notesMasters/notesMaster1.xml"/><Relationship Id="rId19" Type="http://schemas.openxmlformats.org/officeDocument/2006/relationships/font" Target="fonts/Poppins-regular.fntdata"/><Relationship Id="rId6" Type="http://schemas.openxmlformats.org/officeDocument/2006/relationships/slide" Target="slides/slide1.xml"/><Relationship Id="rId18" Type="http://schemas.openxmlformats.org/officeDocument/2006/relationships/slide" Target="slides/slide13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8" name="Google Shape;98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7" name="Google Shape;127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5" name="Google Shape;135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2" name="Google Shape;142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9" name="Google Shape;179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0" name="Google Shape;180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86" name="Google Shape;186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3" name="Google Shape;193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0" name="Google Shape;200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7" name="Google Shape;207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4" name="Google Shape;214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jp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5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56"/>
            </a:gs>
          </a:gsLst>
          <a:lin ang="0" scaled="0"/>
        </a:gradFill>
      </p:bgPr>
    </p:bg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4" name="Google Shape;84;p13"/>
          <p:cNvGrpSpPr/>
          <p:nvPr/>
        </p:nvGrpSpPr>
        <p:grpSpPr>
          <a:xfrm>
            <a:off x="16766326" y="772808"/>
            <a:ext cx="492974" cy="610165"/>
            <a:chOff x="0" y="-341190"/>
            <a:chExt cx="657298" cy="813554"/>
          </a:xfrm>
        </p:grpSpPr>
        <p:grpSp>
          <p:nvGrpSpPr>
            <p:cNvPr id="85" name="Google Shape;85;p13"/>
            <p:cNvGrpSpPr/>
            <p:nvPr/>
          </p:nvGrpSpPr>
          <p:grpSpPr>
            <a:xfrm>
              <a:off x="0" y="-341190"/>
              <a:ext cx="657298" cy="473648"/>
              <a:chOff x="0" y="-57150"/>
              <a:chExt cx="110100" cy="79337"/>
            </a:xfrm>
          </p:grpSpPr>
          <p:sp>
            <p:nvSpPr>
              <p:cNvPr id="86" name="Google Shape;86;p13"/>
              <p:cNvSpPr/>
              <p:nvPr/>
            </p:nvSpPr>
            <p:spPr>
              <a:xfrm>
                <a:off x="0" y="0"/>
                <a:ext cx="110100" cy="22187"/>
              </a:xfrm>
              <a:custGeom>
                <a:rect b="b" l="l" r="r" t="t"/>
                <a:pathLst>
                  <a:path extrusionOk="0" h="22187" w="110100">
                    <a:moveTo>
                      <a:pt x="11094" y="0"/>
                    </a:moveTo>
                    <a:lnTo>
                      <a:pt x="99006" y="0"/>
                    </a:lnTo>
                    <a:cubicBezTo>
                      <a:pt x="101948" y="0"/>
                      <a:pt x="104770" y="1169"/>
                      <a:pt x="106851" y="3249"/>
                    </a:cubicBezTo>
                    <a:cubicBezTo>
                      <a:pt x="108931" y="5330"/>
                      <a:pt x="110100" y="8151"/>
                      <a:pt x="110100" y="11094"/>
                    </a:cubicBezTo>
                    <a:lnTo>
                      <a:pt x="110100" y="11094"/>
                    </a:lnTo>
                    <a:cubicBezTo>
                      <a:pt x="110100" y="17220"/>
                      <a:pt x="105133" y="22187"/>
                      <a:pt x="99006" y="22187"/>
                    </a:cubicBezTo>
                    <a:lnTo>
                      <a:pt x="11094" y="22187"/>
                    </a:lnTo>
                    <a:cubicBezTo>
                      <a:pt x="8151" y="22187"/>
                      <a:pt x="5330" y="21018"/>
                      <a:pt x="3249" y="18938"/>
                    </a:cubicBezTo>
                    <a:cubicBezTo>
                      <a:pt x="1169" y="16858"/>
                      <a:pt x="0" y="14036"/>
                      <a:pt x="0" y="11094"/>
                    </a:cubicBezTo>
                    <a:lnTo>
                      <a:pt x="0" y="11094"/>
                    </a:lnTo>
                    <a:cubicBezTo>
                      <a:pt x="0" y="8151"/>
                      <a:pt x="1169" y="5330"/>
                      <a:pt x="3249" y="3249"/>
                    </a:cubicBezTo>
                    <a:cubicBezTo>
                      <a:pt x="5330" y="1169"/>
                      <a:pt x="8151" y="0"/>
                      <a:pt x="11094" y="0"/>
                    </a:cubicBezTo>
                    <a:close/>
                  </a:path>
                </a:pathLst>
              </a:custGeom>
              <a:solidFill>
                <a:srgbClr val="004369">
                  <a:alpha val="23921"/>
                </a:srgbClr>
              </a:solidFill>
              <a:ln cap="rnd" cmpd="sng" w="19050">
                <a:solidFill>
                  <a:srgbClr val="FFFFFF">
                    <a:alpha val="2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87" name="Google Shape;87;p13"/>
              <p:cNvSpPr txBox="1"/>
              <p:nvPr/>
            </p:nvSpPr>
            <p:spPr>
              <a:xfrm>
                <a:off x="0" y="-57150"/>
                <a:ext cx="110100" cy="793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88" name="Google Shape;88;p13"/>
            <p:cNvGrpSpPr/>
            <p:nvPr/>
          </p:nvGrpSpPr>
          <p:grpSpPr>
            <a:xfrm>
              <a:off x="72468" y="-172432"/>
              <a:ext cx="584830" cy="473648"/>
              <a:chOff x="0" y="-57150"/>
              <a:chExt cx="97961" cy="79337"/>
            </a:xfrm>
          </p:grpSpPr>
          <p:sp>
            <p:nvSpPr>
              <p:cNvPr id="89" name="Google Shape;89;p13"/>
              <p:cNvSpPr/>
              <p:nvPr/>
            </p:nvSpPr>
            <p:spPr>
              <a:xfrm>
                <a:off x="0" y="0"/>
                <a:ext cx="97961" cy="22187"/>
              </a:xfrm>
              <a:custGeom>
                <a:rect b="b" l="l" r="r" t="t"/>
                <a:pathLst>
                  <a:path extrusionOk="0" h="22187" w="97961">
                    <a:moveTo>
                      <a:pt x="11094" y="0"/>
                    </a:moveTo>
                    <a:lnTo>
                      <a:pt x="86867" y="0"/>
                    </a:lnTo>
                    <a:cubicBezTo>
                      <a:pt x="89810" y="0"/>
                      <a:pt x="92631" y="1169"/>
                      <a:pt x="94712" y="3249"/>
                    </a:cubicBezTo>
                    <a:cubicBezTo>
                      <a:pt x="96792" y="5330"/>
                      <a:pt x="97961" y="8151"/>
                      <a:pt x="97961" y="11094"/>
                    </a:cubicBezTo>
                    <a:lnTo>
                      <a:pt x="97961" y="11094"/>
                    </a:lnTo>
                    <a:cubicBezTo>
                      <a:pt x="97961" y="17220"/>
                      <a:pt x="92994" y="22187"/>
                      <a:pt x="86867" y="22187"/>
                    </a:cubicBezTo>
                    <a:lnTo>
                      <a:pt x="11094" y="22187"/>
                    </a:lnTo>
                    <a:cubicBezTo>
                      <a:pt x="8151" y="22187"/>
                      <a:pt x="5330" y="21018"/>
                      <a:pt x="3249" y="18938"/>
                    </a:cubicBezTo>
                    <a:cubicBezTo>
                      <a:pt x="1169" y="16858"/>
                      <a:pt x="0" y="14036"/>
                      <a:pt x="0" y="11094"/>
                    </a:cubicBezTo>
                    <a:lnTo>
                      <a:pt x="0" y="11094"/>
                    </a:lnTo>
                    <a:cubicBezTo>
                      <a:pt x="0" y="8151"/>
                      <a:pt x="1169" y="5330"/>
                      <a:pt x="3249" y="3249"/>
                    </a:cubicBezTo>
                    <a:cubicBezTo>
                      <a:pt x="5330" y="1169"/>
                      <a:pt x="8151" y="0"/>
                      <a:pt x="11094" y="0"/>
                    </a:cubicBezTo>
                    <a:close/>
                  </a:path>
                </a:pathLst>
              </a:custGeom>
              <a:solidFill>
                <a:srgbClr val="004369">
                  <a:alpha val="23921"/>
                </a:srgbClr>
              </a:solidFill>
              <a:ln cap="rnd" cmpd="sng" w="19050">
                <a:solidFill>
                  <a:srgbClr val="FFFFFF">
                    <a:alpha val="2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0" name="Google Shape;90;p13"/>
              <p:cNvSpPr txBox="1"/>
              <p:nvPr/>
            </p:nvSpPr>
            <p:spPr>
              <a:xfrm>
                <a:off x="0" y="-57150"/>
                <a:ext cx="97961" cy="793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91" name="Google Shape;91;p13"/>
            <p:cNvGrpSpPr/>
            <p:nvPr/>
          </p:nvGrpSpPr>
          <p:grpSpPr>
            <a:xfrm>
              <a:off x="178978" y="-1284"/>
              <a:ext cx="478320" cy="473648"/>
              <a:chOff x="0" y="-57150"/>
              <a:chExt cx="80120" cy="79337"/>
            </a:xfrm>
          </p:grpSpPr>
          <p:sp>
            <p:nvSpPr>
              <p:cNvPr id="92" name="Google Shape;92;p13"/>
              <p:cNvSpPr/>
              <p:nvPr/>
            </p:nvSpPr>
            <p:spPr>
              <a:xfrm>
                <a:off x="0" y="0"/>
                <a:ext cx="80120" cy="22187"/>
              </a:xfrm>
              <a:custGeom>
                <a:rect b="b" l="l" r="r" t="t"/>
                <a:pathLst>
                  <a:path extrusionOk="0" h="22187" w="80120">
                    <a:moveTo>
                      <a:pt x="11094" y="0"/>
                    </a:moveTo>
                    <a:lnTo>
                      <a:pt x="69027" y="0"/>
                    </a:lnTo>
                    <a:cubicBezTo>
                      <a:pt x="75153" y="0"/>
                      <a:pt x="80120" y="4967"/>
                      <a:pt x="80120" y="11094"/>
                    </a:cubicBezTo>
                    <a:lnTo>
                      <a:pt x="80120" y="11094"/>
                    </a:lnTo>
                    <a:cubicBezTo>
                      <a:pt x="80120" y="14036"/>
                      <a:pt x="78951" y="16858"/>
                      <a:pt x="76871" y="18938"/>
                    </a:cubicBezTo>
                    <a:cubicBezTo>
                      <a:pt x="74791" y="21018"/>
                      <a:pt x="71969" y="22187"/>
                      <a:pt x="69027" y="22187"/>
                    </a:cubicBezTo>
                    <a:lnTo>
                      <a:pt x="11094" y="22187"/>
                    </a:lnTo>
                    <a:cubicBezTo>
                      <a:pt x="8151" y="22187"/>
                      <a:pt x="5330" y="21018"/>
                      <a:pt x="3249" y="18938"/>
                    </a:cubicBezTo>
                    <a:cubicBezTo>
                      <a:pt x="1169" y="16858"/>
                      <a:pt x="0" y="14036"/>
                      <a:pt x="0" y="11094"/>
                    </a:cubicBezTo>
                    <a:lnTo>
                      <a:pt x="0" y="11094"/>
                    </a:lnTo>
                    <a:cubicBezTo>
                      <a:pt x="0" y="8151"/>
                      <a:pt x="1169" y="5330"/>
                      <a:pt x="3249" y="3249"/>
                    </a:cubicBezTo>
                    <a:cubicBezTo>
                      <a:pt x="5330" y="1169"/>
                      <a:pt x="8151" y="0"/>
                      <a:pt x="11094" y="0"/>
                    </a:cubicBezTo>
                    <a:close/>
                  </a:path>
                </a:pathLst>
              </a:custGeom>
              <a:solidFill>
                <a:srgbClr val="004369">
                  <a:alpha val="23921"/>
                </a:srgbClr>
              </a:solidFill>
              <a:ln cap="rnd" cmpd="sng" w="19050">
                <a:solidFill>
                  <a:srgbClr val="FFFFFF">
                    <a:alpha val="2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93" name="Google Shape;93;p13"/>
              <p:cNvSpPr txBox="1"/>
              <p:nvPr/>
            </p:nvSpPr>
            <p:spPr>
              <a:xfrm>
                <a:off x="0" y="-57150"/>
                <a:ext cx="80120" cy="793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94" name="Google Shape;94;p13"/>
          <p:cNvSpPr txBox="1"/>
          <p:nvPr/>
        </p:nvSpPr>
        <p:spPr>
          <a:xfrm>
            <a:off x="4960937" y="4819951"/>
            <a:ext cx="8366125" cy="1180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Prepared By : MEGHANA KOTHA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Internship Project | Infosys Springboard</a:t>
            </a:r>
            <a:endParaRPr/>
          </a:p>
        </p:txBody>
      </p:sp>
      <p:sp>
        <p:nvSpPr>
          <p:cNvPr id="95" name="Google Shape;95;p13"/>
          <p:cNvSpPr txBox="1"/>
          <p:nvPr/>
        </p:nvSpPr>
        <p:spPr>
          <a:xfrm>
            <a:off x="0" y="2243422"/>
            <a:ext cx="18288000" cy="2095434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Cyber RISK ASSESSMENT AND THREAT INTELLIGNECE PLATFORM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56"/>
            </a:gs>
          </a:gsLst>
          <a:lin ang="0" scaled="0"/>
        </a:gradFill>
      </p:bgPr>
    </p:bg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" name="Google Shape;100;p14"/>
          <p:cNvGrpSpPr/>
          <p:nvPr/>
        </p:nvGrpSpPr>
        <p:grpSpPr>
          <a:xfrm>
            <a:off x="16766326" y="772808"/>
            <a:ext cx="492974" cy="610165"/>
            <a:chOff x="0" y="-341190"/>
            <a:chExt cx="657298" cy="813554"/>
          </a:xfrm>
        </p:grpSpPr>
        <p:grpSp>
          <p:nvGrpSpPr>
            <p:cNvPr id="101" name="Google Shape;101;p14"/>
            <p:cNvGrpSpPr/>
            <p:nvPr/>
          </p:nvGrpSpPr>
          <p:grpSpPr>
            <a:xfrm>
              <a:off x="0" y="-341190"/>
              <a:ext cx="657298" cy="473648"/>
              <a:chOff x="0" y="-57150"/>
              <a:chExt cx="110100" cy="79337"/>
            </a:xfrm>
          </p:grpSpPr>
          <p:sp>
            <p:nvSpPr>
              <p:cNvPr id="102" name="Google Shape;102;p14"/>
              <p:cNvSpPr/>
              <p:nvPr/>
            </p:nvSpPr>
            <p:spPr>
              <a:xfrm>
                <a:off x="0" y="0"/>
                <a:ext cx="110100" cy="22187"/>
              </a:xfrm>
              <a:custGeom>
                <a:rect b="b" l="l" r="r" t="t"/>
                <a:pathLst>
                  <a:path extrusionOk="0" h="22187" w="110100">
                    <a:moveTo>
                      <a:pt x="11094" y="0"/>
                    </a:moveTo>
                    <a:lnTo>
                      <a:pt x="99006" y="0"/>
                    </a:lnTo>
                    <a:cubicBezTo>
                      <a:pt x="101948" y="0"/>
                      <a:pt x="104770" y="1169"/>
                      <a:pt x="106851" y="3249"/>
                    </a:cubicBezTo>
                    <a:cubicBezTo>
                      <a:pt x="108931" y="5330"/>
                      <a:pt x="110100" y="8151"/>
                      <a:pt x="110100" y="11094"/>
                    </a:cubicBezTo>
                    <a:lnTo>
                      <a:pt x="110100" y="11094"/>
                    </a:lnTo>
                    <a:cubicBezTo>
                      <a:pt x="110100" y="17220"/>
                      <a:pt x="105133" y="22187"/>
                      <a:pt x="99006" y="22187"/>
                    </a:cubicBezTo>
                    <a:lnTo>
                      <a:pt x="11094" y="22187"/>
                    </a:lnTo>
                    <a:cubicBezTo>
                      <a:pt x="8151" y="22187"/>
                      <a:pt x="5330" y="21018"/>
                      <a:pt x="3249" y="18938"/>
                    </a:cubicBezTo>
                    <a:cubicBezTo>
                      <a:pt x="1169" y="16858"/>
                      <a:pt x="0" y="14036"/>
                      <a:pt x="0" y="11094"/>
                    </a:cubicBezTo>
                    <a:lnTo>
                      <a:pt x="0" y="11094"/>
                    </a:lnTo>
                    <a:cubicBezTo>
                      <a:pt x="0" y="8151"/>
                      <a:pt x="1169" y="5330"/>
                      <a:pt x="3249" y="3249"/>
                    </a:cubicBezTo>
                    <a:cubicBezTo>
                      <a:pt x="5330" y="1169"/>
                      <a:pt x="8151" y="0"/>
                      <a:pt x="11094" y="0"/>
                    </a:cubicBezTo>
                    <a:close/>
                  </a:path>
                </a:pathLst>
              </a:custGeom>
              <a:solidFill>
                <a:srgbClr val="004369">
                  <a:alpha val="23921"/>
                </a:srgbClr>
              </a:solidFill>
              <a:ln cap="rnd" cmpd="sng" w="19050">
                <a:solidFill>
                  <a:srgbClr val="FFFFFF">
                    <a:alpha val="2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3" name="Google Shape;103;p14"/>
              <p:cNvSpPr txBox="1"/>
              <p:nvPr/>
            </p:nvSpPr>
            <p:spPr>
              <a:xfrm>
                <a:off x="0" y="-57150"/>
                <a:ext cx="110100" cy="793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4" name="Google Shape;104;p14"/>
            <p:cNvGrpSpPr/>
            <p:nvPr/>
          </p:nvGrpSpPr>
          <p:grpSpPr>
            <a:xfrm>
              <a:off x="72468" y="-172432"/>
              <a:ext cx="584830" cy="473648"/>
              <a:chOff x="0" y="-57150"/>
              <a:chExt cx="97961" cy="79337"/>
            </a:xfrm>
          </p:grpSpPr>
          <p:sp>
            <p:nvSpPr>
              <p:cNvPr id="105" name="Google Shape;105;p14"/>
              <p:cNvSpPr/>
              <p:nvPr/>
            </p:nvSpPr>
            <p:spPr>
              <a:xfrm>
                <a:off x="0" y="0"/>
                <a:ext cx="97961" cy="22187"/>
              </a:xfrm>
              <a:custGeom>
                <a:rect b="b" l="l" r="r" t="t"/>
                <a:pathLst>
                  <a:path extrusionOk="0" h="22187" w="97961">
                    <a:moveTo>
                      <a:pt x="11094" y="0"/>
                    </a:moveTo>
                    <a:lnTo>
                      <a:pt x="86867" y="0"/>
                    </a:lnTo>
                    <a:cubicBezTo>
                      <a:pt x="89810" y="0"/>
                      <a:pt x="92631" y="1169"/>
                      <a:pt x="94712" y="3249"/>
                    </a:cubicBezTo>
                    <a:cubicBezTo>
                      <a:pt x="96792" y="5330"/>
                      <a:pt x="97961" y="8151"/>
                      <a:pt x="97961" y="11094"/>
                    </a:cubicBezTo>
                    <a:lnTo>
                      <a:pt x="97961" y="11094"/>
                    </a:lnTo>
                    <a:cubicBezTo>
                      <a:pt x="97961" y="17220"/>
                      <a:pt x="92994" y="22187"/>
                      <a:pt x="86867" y="22187"/>
                    </a:cubicBezTo>
                    <a:lnTo>
                      <a:pt x="11094" y="22187"/>
                    </a:lnTo>
                    <a:cubicBezTo>
                      <a:pt x="8151" y="22187"/>
                      <a:pt x="5330" y="21018"/>
                      <a:pt x="3249" y="18938"/>
                    </a:cubicBezTo>
                    <a:cubicBezTo>
                      <a:pt x="1169" y="16858"/>
                      <a:pt x="0" y="14036"/>
                      <a:pt x="0" y="11094"/>
                    </a:cubicBezTo>
                    <a:lnTo>
                      <a:pt x="0" y="11094"/>
                    </a:lnTo>
                    <a:cubicBezTo>
                      <a:pt x="0" y="8151"/>
                      <a:pt x="1169" y="5330"/>
                      <a:pt x="3249" y="3249"/>
                    </a:cubicBezTo>
                    <a:cubicBezTo>
                      <a:pt x="5330" y="1169"/>
                      <a:pt x="8151" y="0"/>
                      <a:pt x="11094" y="0"/>
                    </a:cubicBezTo>
                    <a:close/>
                  </a:path>
                </a:pathLst>
              </a:custGeom>
              <a:solidFill>
                <a:srgbClr val="004369">
                  <a:alpha val="23921"/>
                </a:srgbClr>
              </a:solidFill>
              <a:ln cap="rnd" cmpd="sng" w="19050">
                <a:solidFill>
                  <a:srgbClr val="FFFFFF">
                    <a:alpha val="2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6" name="Google Shape;106;p14"/>
              <p:cNvSpPr txBox="1"/>
              <p:nvPr/>
            </p:nvSpPr>
            <p:spPr>
              <a:xfrm>
                <a:off x="0" y="-57150"/>
                <a:ext cx="97961" cy="793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  <p:grpSp>
          <p:nvGrpSpPr>
            <p:cNvPr id="107" name="Google Shape;107;p14"/>
            <p:cNvGrpSpPr/>
            <p:nvPr/>
          </p:nvGrpSpPr>
          <p:grpSpPr>
            <a:xfrm>
              <a:off x="178978" y="-1284"/>
              <a:ext cx="478320" cy="473648"/>
              <a:chOff x="0" y="-57150"/>
              <a:chExt cx="80120" cy="79337"/>
            </a:xfrm>
          </p:grpSpPr>
          <p:sp>
            <p:nvSpPr>
              <p:cNvPr id="108" name="Google Shape;108;p14"/>
              <p:cNvSpPr/>
              <p:nvPr/>
            </p:nvSpPr>
            <p:spPr>
              <a:xfrm>
                <a:off x="0" y="0"/>
                <a:ext cx="80120" cy="22187"/>
              </a:xfrm>
              <a:custGeom>
                <a:rect b="b" l="l" r="r" t="t"/>
                <a:pathLst>
                  <a:path extrusionOk="0" h="22187" w="80120">
                    <a:moveTo>
                      <a:pt x="11094" y="0"/>
                    </a:moveTo>
                    <a:lnTo>
                      <a:pt x="69027" y="0"/>
                    </a:lnTo>
                    <a:cubicBezTo>
                      <a:pt x="75153" y="0"/>
                      <a:pt x="80120" y="4967"/>
                      <a:pt x="80120" y="11094"/>
                    </a:cubicBezTo>
                    <a:lnTo>
                      <a:pt x="80120" y="11094"/>
                    </a:lnTo>
                    <a:cubicBezTo>
                      <a:pt x="80120" y="14036"/>
                      <a:pt x="78951" y="16858"/>
                      <a:pt x="76871" y="18938"/>
                    </a:cubicBezTo>
                    <a:cubicBezTo>
                      <a:pt x="74791" y="21018"/>
                      <a:pt x="71969" y="22187"/>
                      <a:pt x="69027" y="22187"/>
                    </a:cubicBezTo>
                    <a:lnTo>
                      <a:pt x="11094" y="22187"/>
                    </a:lnTo>
                    <a:cubicBezTo>
                      <a:pt x="8151" y="22187"/>
                      <a:pt x="5330" y="21018"/>
                      <a:pt x="3249" y="18938"/>
                    </a:cubicBezTo>
                    <a:cubicBezTo>
                      <a:pt x="1169" y="16858"/>
                      <a:pt x="0" y="14036"/>
                      <a:pt x="0" y="11094"/>
                    </a:cubicBezTo>
                    <a:lnTo>
                      <a:pt x="0" y="11094"/>
                    </a:lnTo>
                    <a:cubicBezTo>
                      <a:pt x="0" y="8151"/>
                      <a:pt x="1169" y="5330"/>
                      <a:pt x="3249" y="3249"/>
                    </a:cubicBezTo>
                    <a:cubicBezTo>
                      <a:pt x="5330" y="1169"/>
                      <a:pt x="8151" y="0"/>
                      <a:pt x="11094" y="0"/>
                    </a:cubicBezTo>
                    <a:close/>
                  </a:path>
                </a:pathLst>
              </a:custGeom>
              <a:solidFill>
                <a:srgbClr val="004369">
                  <a:alpha val="23921"/>
                </a:srgbClr>
              </a:solidFill>
              <a:ln cap="rnd" cmpd="sng" w="19050">
                <a:solidFill>
                  <a:srgbClr val="FFFFFF">
                    <a:alpha val="23921"/>
                  </a:srgbClr>
                </a:solidFill>
                <a:prstDash val="solid"/>
                <a:round/>
                <a:headEnd len="sm" w="sm" type="none"/>
                <a:tailEnd len="sm" w="sm" type="none"/>
              </a:ln>
            </p:spPr>
            <p:txBody>
              <a:bodyPr anchorCtr="0" anchor="ctr" bIns="91425" lIns="91425" spcFirstLastPara="1" rIns="91425" wrap="square" tIns="91425">
                <a:noAutofit/>
              </a:bodyPr>
              <a:lstStyle/>
              <a:p>
                <a:pPr indent="0" lvl="0" marL="0" rtl="0" algn="l"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/>
              </a:p>
            </p:txBody>
          </p:sp>
          <p:sp>
            <p:nvSpPr>
              <p:cNvPr id="109" name="Google Shape;109;p14"/>
              <p:cNvSpPr txBox="1"/>
              <p:nvPr/>
            </p:nvSpPr>
            <p:spPr>
              <a:xfrm>
                <a:off x="0" y="-57150"/>
                <a:ext cx="80120" cy="79337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anchorCtr="0" anchor="ctr" bIns="50800" lIns="50800" spcFirstLastPara="1" rIns="50800" wrap="square" tIns="50800">
                <a:noAutofit/>
              </a:bodyPr>
              <a:lstStyle/>
              <a:p>
                <a:pPr indent="0" lvl="0" marL="0" marR="0" rtl="0" algn="ctr">
                  <a:lnSpc>
                    <a:spcPct val="147722"/>
                  </a:lnSpc>
                  <a:spcBef>
                    <a:spcPts val="0"/>
                  </a:spcBef>
                  <a:spcAft>
                    <a:spcPts val="0"/>
                  </a:spcAft>
                  <a:buNone/>
                </a:pPr>
                <a:r>
                  <a:t/>
                </a:r>
                <a:endParaRPr b="0" i="0" sz="1800" u="none" cap="none" strike="noStrike">
                  <a:solidFill>
                    <a:schemeClr val="dk1"/>
                  </a:solidFill>
                  <a:latin typeface="Calibri"/>
                  <a:ea typeface="Calibri"/>
                  <a:cs typeface="Calibri"/>
                  <a:sym typeface="Calibri"/>
                </a:endParaRPr>
              </a:p>
            </p:txBody>
          </p:sp>
        </p:grpSp>
      </p:grpSp>
      <p:sp>
        <p:nvSpPr>
          <p:cNvPr id="110" name="Google Shape;110;p14"/>
          <p:cNvSpPr txBox="1"/>
          <p:nvPr/>
        </p:nvSpPr>
        <p:spPr>
          <a:xfrm>
            <a:off x="4640378" y="925085"/>
            <a:ext cx="9007244" cy="1250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6999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PROBLEM STATEMENT</a:t>
            </a:r>
            <a:endParaRPr/>
          </a:p>
        </p:txBody>
      </p:sp>
      <p:sp>
        <p:nvSpPr>
          <p:cNvPr id="111" name="Google Shape;111;p14"/>
          <p:cNvSpPr txBox="1"/>
          <p:nvPr/>
        </p:nvSpPr>
        <p:spPr>
          <a:xfrm>
            <a:off x="482784" y="2820242"/>
            <a:ext cx="17805216" cy="66852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Manual monitoring of network ports is time-consuming and error-prone.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High-risk or unknown ports may go unnoticed, causing security vulnerabilities.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Lack of visualization and analysis tools makes decision-making slow.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Poppins"/>
              <a:ea typeface="Poppins"/>
              <a:cs typeface="Poppins"/>
              <a:sym typeface="Poppins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Poppins"/>
                <a:ea typeface="Poppins"/>
                <a:cs typeface="Poppins"/>
                <a:sym typeface="Poppins"/>
              </a:rPr>
              <a:t>Organizations need real-time monitoring and actionable insights to secure networks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56"/>
            </a:gs>
          </a:gsLst>
          <a:lin ang="0" scaled="0"/>
        </a:gradFill>
      </p:bgPr>
    </p:bg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p15"/>
          <p:cNvSpPr txBox="1"/>
          <p:nvPr/>
        </p:nvSpPr>
        <p:spPr>
          <a:xfrm>
            <a:off x="6676913" y="2422740"/>
            <a:ext cx="10794514" cy="59804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Understand real-world risk and threat assessment processes.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Apply Python fundamentals to calculate risk scores for each port/service.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Build an interactive dashboard to visualize risks and support decision-making.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p15"/>
          <p:cNvSpPr/>
          <p:nvPr/>
        </p:nvSpPr>
        <p:spPr>
          <a:xfrm>
            <a:off x="1028700" y="3086100"/>
            <a:ext cx="5906509" cy="4114800"/>
          </a:xfrm>
          <a:custGeom>
            <a:rect b="b" l="l" r="r" t="t"/>
            <a:pathLst>
              <a:path extrusionOk="0" h="4114800" w="5906509">
                <a:moveTo>
                  <a:pt x="0" y="0"/>
                </a:moveTo>
                <a:lnTo>
                  <a:pt x="5906509" y="0"/>
                </a:lnTo>
                <a:lnTo>
                  <a:pt x="5906509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p15"/>
          <p:cNvSpPr txBox="1"/>
          <p:nvPr/>
        </p:nvSpPr>
        <p:spPr>
          <a:xfrm>
            <a:off x="8648069" y="593572"/>
            <a:ext cx="7870155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OBJECTIVE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56"/>
            </a:gs>
          </a:gsLst>
          <a:lin ang="0" scaled="0"/>
        </a:gradFill>
      </p:bgPr>
    </p:bg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/>
        </p:nvSpPr>
        <p:spPr>
          <a:xfrm>
            <a:off x="1969850" y="895350"/>
            <a:ext cx="141720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ABOUT THE PROJECT</a:t>
            </a:r>
            <a:endParaRPr/>
          </a:p>
        </p:txBody>
      </p:sp>
      <p:sp>
        <p:nvSpPr>
          <p:cNvPr id="124" name="Google Shape;124;p16"/>
          <p:cNvSpPr txBox="1"/>
          <p:nvPr/>
        </p:nvSpPr>
        <p:spPr>
          <a:xfrm>
            <a:off x="1139891" y="2399422"/>
            <a:ext cx="16185555" cy="664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Scan network open ports and identify services.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Assess </a:t>
            </a: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level</a:t>
            </a: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of each port (High / Medium / Low / Unknown).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Integrate</a:t>
            </a:r>
            <a:r>
              <a:rPr b="1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VirusTotal API</a:t>
            </a: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for threat intelligence on services and IPs.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Visualize results via KPI cards, tables, and charts.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Send mail alerts if high or medium risk is detected.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56"/>
            </a:gs>
          </a:gsLst>
          <a:lin ang="0" scaled="0"/>
        </a:gradFill>
      </p:bgPr>
    </p:bg>
    <p:spTree>
      <p:nvGrpSpPr>
        <p:cNvPr id="128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" name="Google Shape;129;p17"/>
          <p:cNvSpPr/>
          <p:nvPr/>
        </p:nvSpPr>
        <p:spPr>
          <a:xfrm>
            <a:off x="1491300" y="4409289"/>
            <a:ext cx="2659765" cy="2659765"/>
          </a:xfrm>
          <a:custGeom>
            <a:rect b="b" l="l" r="r" t="t"/>
            <a:pathLst>
              <a:path extrusionOk="0" h="2659765" w="2659765">
                <a:moveTo>
                  <a:pt x="0" y="0"/>
                </a:moveTo>
                <a:lnTo>
                  <a:pt x="2659765" y="0"/>
                </a:lnTo>
                <a:lnTo>
                  <a:pt x="2659765" y="2659765"/>
                </a:lnTo>
                <a:lnTo>
                  <a:pt x="0" y="265976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0" name="Google Shape;130;p17"/>
          <p:cNvSpPr txBox="1"/>
          <p:nvPr/>
        </p:nvSpPr>
        <p:spPr>
          <a:xfrm>
            <a:off x="3365150" y="885825"/>
            <a:ext cx="103143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TERMINOLOGY</a:t>
            </a:r>
            <a:endParaRPr/>
          </a:p>
        </p:txBody>
      </p:sp>
      <p:sp>
        <p:nvSpPr>
          <p:cNvPr id="131" name="Google Shape;131;p17"/>
          <p:cNvSpPr txBox="1"/>
          <p:nvPr/>
        </p:nvSpPr>
        <p:spPr>
          <a:xfrm>
            <a:off x="6638336" y="2198866"/>
            <a:ext cx="3405000" cy="215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2" name="Google Shape;132;p17"/>
          <p:cNvSpPr txBox="1"/>
          <p:nvPr/>
        </p:nvSpPr>
        <p:spPr>
          <a:xfrm>
            <a:off x="5011600" y="2198875"/>
            <a:ext cx="13121100" cy="7250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6691" lvl="1" marL="833383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59"/>
              <a:buFont typeface="Arial"/>
              <a:buChar char="•"/>
            </a:pPr>
            <a:r>
              <a:rPr b="1" i="0" lang="en-US" sz="38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Vulnerability:</a:t>
            </a:r>
            <a:r>
              <a:rPr b="0" i="0" lang="en-US" sz="38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Weakness in the system (e.g., open port, no password encryption).</a:t>
            </a:r>
            <a:endParaRPr/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       Analogy: Open windows in a house.</a:t>
            </a:r>
            <a:r>
              <a:rPr b="1" i="0" lang="en-US" sz="38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</a:t>
            </a:r>
            <a:endParaRPr/>
          </a:p>
          <a:p>
            <a:pPr indent="-416691" lvl="1" marL="833383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59"/>
              <a:buFont typeface="Arial"/>
              <a:buChar char="•"/>
            </a:pPr>
            <a:r>
              <a:rPr b="1" i="0" lang="en-US" sz="38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Threat:</a:t>
            </a:r>
            <a:r>
              <a:rPr b="0" i="0" lang="en-US" sz="38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Something that can attack or cause damage (e.g., hacker, malware).</a:t>
            </a:r>
            <a:endParaRPr/>
          </a:p>
          <a:p>
            <a:pPr indent="0" lvl="0" marL="0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8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                    </a:t>
            </a:r>
            <a:r>
              <a:rPr b="1" i="0" lang="en-US" sz="38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Analogy: </a:t>
            </a:r>
            <a:r>
              <a:rPr b="0" i="0" lang="en-US" sz="38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 thief.</a:t>
            </a:r>
            <a:endParaRPr/>
          </a:p>
          <a:p>
            <a:pPr indent="-416691" lvl="1" marL="833383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59"/>
              <a:buFont typeface="Arial"/>
              <a:buChar char="•"/>
            </a:pPr>
            <a:r>
              <a:rPr b="1" i="0" lang="en-US" sz="38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Risk: </a:t>
            </a:r>
            <a:r>
              <a:rPr b="0" i="0" lang="en-US" sz="38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Potential damage due to a vulnerability exploited by a threat.</a:t>
            </a:r>
            <a:endParaRPr/>
          </a:p>
          <a:p>
            <a:pPr indent="-416690" lvl="1" marL="833382" marR="0" rtl="0" algn="l">
              <a:lnSpc>
                <a:spcPct val="140036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59"/>
              <a:buFont typeface="Arial"/>
              <a:buChar char="•"/>
            </a:pPr>
            <a:r>
              <a:rPr b="1" i="0" lang="en-US" sz="38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Formula: </a:t>
            </a:r>
            <a:r>
              <a:rPr b="0" i="0" lang="en-US" sz="385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Vulnerability + Threat = Risk</a:t>
            </a:r>
            <a:endParaRPr b="0" i="0" sz="385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56"/>
            </a:gs>
          </a:gsLst>
          <a:lin ang="0" scaled="0"/>
        </a:gradFill>
      </p:bgPr>
    </p:bg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18"/>
          <p:cNvSpPr/>
          <p:nvPr/>
        </p:nvSpPr>
        <p:spPr>
          <a:xfrm>
            <a:off x="11670056" y="2957740"/>
            <a:ext cx="5985556" cy="3728882"/>
          </a:xfrm>
          <a:custGeom>
            <a:rect b="b" l="l" r="r" t="t"/>
            <a:pathLst>
              <a:path extrusionOk="0" h="1233708" w="1980333">
                <a:moveTo>
                  <a:pt x="29742" y="0"/>
                </a:moveTo>
                <a:lnTo>
                  <a:pt x="1950590" y="0"/>
                </a:lnTo>
                <a:cubicBezTo>
                  <a:pt x="1967017" y="0"/>
                  <a:pt x="1980333" y="13316"/>
                  <a:pt x="1980333" y="29742"/>
                </a:cubicBezTo>
                <a:lnTo>
                  <a:pt x="1980333" y="1203966"/>
                </a:lnTo>
                <a:cubicBezTo>
                  <a:pt x="1980333" y="1220392"/>
                  <a:pt x="1967017" y="1233708"/>
                  <a:pt x="1950590" y="1233708"/>
                </a:cubicBezTo>
                <a:lnTo>
                  <a:pt x="29742" y="1233708"/>
                </a:lnTo>
                <a:cubicBezTo>
                  <a:pt x="13316" y="1233708"/>
                  <a:pt x="0" y="1220392"/>
                  <a:pt x="0" y="1203966"/>
                </a:cubicBezTo>
                <a:lnTo>
                  <a:pt x="0" y="29742"/>
                </a:lnTo>
                <a:cubicBezTo>
                  <a:pt x="0" y="13316"/>
                  <a:pt x="13316" y="0"/>
                  <a:pt x="29742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3506" l="0" r="0" t="-3506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8" name="Google Shape;138;p18"/>
          <p:cNvSpPr txBox="1"/>
          <p:nvPr/>
        </p:nvSpPr>
        <p:spPr>
          <a:xfrm>
            <a:off x="4303018" y="547317"/>
            <a:ext cx="10842947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PROJECT MODULES</a:t>
            </a:r>
            <a:endParaRPr/>
          </a:p>
        </p:txBody>
      </p:sp>
      <p:sp>
        <p:nvSpPr>
          <p:cNvPr id="139" name="Google Shape;139;p18"/>
          <p:cNvSpPr txBox="1"/>
          <p:nvPr/>
        </p:nvSpPr>
        <p:spPr>
          <a:xfrm>
            <a:off x="653900" y="1997200"/>
            <a:ext cx="10344300" cy="5650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8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Vulnerability Scanning: </a:t>
            </a: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Detect weaknesses in the system.</a:t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30" lvl="1" marL="734058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Threat Intelligence Integration: </a:t>
            </a: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Use external APIs (VT) to gather threat data.</a:t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30" lvl="1" marL="734058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Risk Scoring:</a:t>
            </a: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Calculate exposure, threat, and overall risk scores.</a:t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30" lvl="1" marL="734058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Dashboard: </a:t>
            </a: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Visualize results in dashboard.</a:t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30" lvl="1" marL="734059" marR="0" rtl="0" algn="just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1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Alerts:</a:t>
            </a: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Notify teams of high or medium risk.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56"/>
            </a:gs>
          </a:gsLst>
          <a:lin ang="0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9"/>
          <p:cNvSpPr txBox="1"/>
          <p:nvPr/>
        </p:nvSpPr>
        <p:spPr>
          <a:xfrm>
            <a:off x="1231150" y="895350"/>
            <a:ext cx="151569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SYSTEM ARCHITECTURE</a:t>
            </a:r>
            <a:endParaRPr/>
          </a:p>
        </p:txBody>
      </p:sp>
      <p:grpSp>
        <p:nvGrpSpPr>
          <p:cNvPr id="145" name="Google Shape;145;p19"/>
          <p:cNvGrpSpPr/>
          <p:nvPr/>
        </p:nvGrpSpPr>
        <p:grpSpPr>
          <a:xfrm>
            <a:off x="1028700" y="2644347"/>
            <a:ext cx="2979013" cy="1430795"/>
            <a:chOff x="0" y="-76200"/>
            <a:chExt cx="784596" cy="376835"/>
          </a:xfrm>
        </p:grpSpPr>
        <p:sp>
          <p:nvSpPr>
            <p:cNvPr id="146" name="Google Shape;146;p19"/>
            <p:cNvSpPr/>
            <p:nvPr/>
          </p:nvSpPr>
          <p:spPr>
            <a:xfrm>
              <a:off x="0" y="0"/>
              <a:ext cx="784596" cy="300635"/>
            </a:xfrm>
            <a:custGeom>
              <a:rect b="b" l="l" r="r" t="t"/>
              <a:pathLst>
                <a:path extrusionOk="0" h="300635" w="784596">
                  <a:moveTo>
                    <a:pt x="0" y="0"/>
                  </a:moveTo>
                  <a:lnTo>
                    <a:pt x="784596" y="0"/>
                  </a:lnTo>
                  <a:lnTo>
                    <a:pt x="784596" y="300635"/>
                  </a:lnTo>
                  <a:lnTo>
                    <a:pt x="0" y="300635"/>
                  </a:lnTo>
                  <a:close/>
                </a:path>
              </a:pathLst>
            </a:custGeom>
            <a:solidFill>
              <a:srgbClr val="004369"/>
            </a:solidFill>
            <a:ln>
              <a:noFill/>
            </a:ln>
          </p:spPr>
        </p:sp>
        <p:sp>
          <p:nvSpPr>
            <p:cNvPr id="147" name="Google Shape;147;p19"/>
            <p:cNvSpPr txBox="1"/>
            <p:nvPr/>
          </p:nvSpPr>
          <p:spPr>
            <a:xfrm>
              <a:off x="0" y="-76200"/>
              <a:ext cx="784596" cy="37683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User  Enters IP</a:t>
              </a:r>
              <a:endParaRPr/>
            </a:p>
          </p:txBody>
        </p:sp>
      </p:grpSp>
      <p:grpSp>
        <p:nvGrpSpPr>
          <p:cNvPr id="148" name="Google Shape;148;p19"/>
          <p:cNvGrpSpPr/>
          <p:nvPr/>
        </p:nvGrpSpPr>
        <p:grpSpPr>
          <a:xfrm>
            <a:off x="4150047" y="2949933"/>
            <a:ext cx="1424719" cy="1232297"/>
            <a:chOff x="0" y="0"/>
            <a:chExt cx="939718" cy="812800"/>
          </a:xfrm>
        </p:grpSpPr>
        <p:sp>
          <p:nvSpPr>
            <p:cNvPr id="149" name="Google Shape;149;p19"/>
            <p:cNvSpPr/>
            <p:nvPr/>
          </p:nvSpPr>
          <p:spPr>
            <a:xfrm>
              <a:off x="0" y="0"/>
              <a:ext cx="939718" cy="812800"/>
            </a:xfrm>
            <a:custGeom>
              <a:rect b="b" l="l" r="r" t="t"/>
              <a:pathLst>
                <a:path extrusionOk="0" h="812800" w="939718">
                  <a:moveTo>
                    <a:pt x="939718" y="406400"/>
                  </a:moveTo>
                  <a:lnTo>
                    <a:pt x="533318" y="0"/>
                  </a:lnTo>
                  <a:lnTo>
                    <a:pt x="53331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533318" y="609600"/>
                  </a:lnTo>
                  <a:lnTo>
                    <a:pt x="533318" y="812800"/>
                  </a:lnTo>
                  <a:lnTo>
                    <a:pt x="939718" y="406400"/>
                  </a:lnTo>
                  <a:close/>
                </a:path>
              </a:pathLst>
            </a:custGeom>
            <a:solidFill>
              <a:srgbClr val="004369"/>
            </a:solidFill>
            <a:ln>
              <a:noFill/>
            </a:ln>
          </p:spPr>
        </p:sp>
        <p:sp>
          <p:nvSpPr>
            <p:cNvPr id="150" name="Google Shape;150;p19"/>
            <p:cNvSpPr txBox="1"/>
            <p:nvPr/>
          </p:nvSpPr>
          <p:spPr>
            <a:xfrm>
              <a:off x="0" y="146050"/>
              <a:ext cx="838118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9"/>
          <p:cNvGrpSpPr/>
          <p:nvPr/>
        </p:nvGrpSpPr>
        <p:grpSpPr>
          <a:xfrm>
            <a:off x="5717641" y="2586852"/>
            <a:ext cx="5388472" cy="1644970"/>
            <a:chOff x="0" y="-76200"/>
            <a:chExt cx="1419186" cy="433243"/>
          </a:xfrm>
        </p:grpSpPr>
        <p:sp>
          <p:nvSpPr>
            <p:cNvPr id="152" name="Google Shape;152;p19"/>
            <p:cNvSpPr/>
            <p:nvPr/>
          </p:nvSpPr>
          <p:spPr>
            <a:xfrm>
              <a:off x="0" y="0"/>
              <a:ext cx="1419186" cy="357043"/>
            </a:xfrm>
            <a:custGeom>
              <a:rect b="b" l="l" r="r" t="t"/>
              <a:pathLst>
                <a:path extrusionOk="0" h="357043" w="1419186">
                  <a:moveTo>
                    <a:pt x="0" y="0"/>
                  </a:moveTo>
                  <a:lnTo>
                    <a:pt x="1419186" y="0"/>
                  </a:lnTo>
                  <a:lnTo>
                    <a:pt x="1419186" y="357043"/>
                  </a:lnTo>
                  <a:lnTo>
                    <a:pt x="0" y="357043"/>
                  </a:lnTo>
                  <a:close/>
                </a:path>
              </a:pathLst>
            </a:custGeom>
            <a:solidFill>
              <a:srgbClr val="004369"/>
            </a:solidFill>
            <a:ln>
              <a:noFill/>
            </a:ln>
          </p:spPr>
        </p:sp>
        <p:sp>
          <p:nvSpPr>
            <p:cNvPr id="153" name="Google Shape;153;p19"/>
            <p:cNvSpPr txBox="1"/>
            <p:nvPr/>
          </p:nvSpPr>
          <p:spPr>
            <a:xfrm>
              <a:off x="0" y="-76200"/>
              <a:ext cx="1419186" cy="43324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Backend: nmap scan and virusToal Scan</a:t>
              </a:r>
              <a:endParaRPr/>
            </a:p>
          </p:txBody>
        </p:sp>
      </p:grpSp>
      <p:grpSp>
        <p:nvGrpSpPr>
          <p:cNvPr id="154" name="Google Shape;154;p19"/>
          <p:cNvGrpSpPr/>
          <p:nvPr/>
        </p:nvGrpSpPr>
        <p:grpSpPr>
          <a:xfrm>
            <a:off x="11248988" y="2996646"/>
            <a:ext cx="1428046" cy="1235175"/>
            <a:chOff x="0" y="0"/>
            <a:chExt cx="939718" cy="812800"/>
          </a:xfrm>
        </p:grpSpPr>
        <p:sp>
          <p:nvSpPr>
            <p:cNvPr id="155" name="Google Shape;155;p19"/>
            <p:cNvSpPr/>
            <p:nvPr/>
          </p:nvSpPr>
          <p:spPr>
            <a:xfrm>
              <a:off x="0" y="0"/>
              <a:ext cx="939718" cy="812800"/>
            </a:xfrm>
            <a:custGeom>
              <a:rect b="b" l="l" r="r" t="t"/>
              <a:pathLst>
                <a:path extrusionOk="0" h="812800" w="939718">
                  <a:moveTo>
                    <a:pt x="939718" y="406400"/>
                  </a:moveTo>
                  <a:lnTo>
                    <a:pt x="533318" y="0"/>
                  </a:lnTo>
                  <a:lnTo>
                    <a:pt x="533318" y="203200"/>
                  </a:lnTo>
                  <a:lnTo>
                    <a:pt x="0" y="203200"/>
                  </a:lnTo>
                  <a:lnTo>
                    <a:pt x="0" y="609600"/>
                  </a:lnTo>
                  <a:lnTo>
                    <a:pt x="533318" y="609600"/>
                  </a:lnTo>
                  <a:lnTo>
                    <a:pt x="533318" y="812800"/>
                  </a:lnTo>
                  <a:lnTo>
                    <a:pt x="939718" y="406400"/>
                  </a:lnTo>
                  <a:close/>
                </a:path>
              </a:pathLst>
            </a:custGeom>
            <a:solidFill>
              <a:srgbClr val="004369"/>
            </a:solidFill>
            <a:ln>
              <a:noFill/>
            </a:ln>
          </p:spPr>
        </p:sp>
        <p:sp>
          <p:nvSpPr>
            <p:cNvPr id="156" name="Google Shape;156;p19"/>
            <p:cNvSpPr txBox="1"/>
            <p:nvPr/>
          </p:nvSpPr>
          <p:spPr>
            <a:xfrm>
              <a:off x="0" y="146050"/>
              <a:ext cx="838118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7" name="Google Shape;157;p19"/>
          <p:cNvGrpSpPr/>
          <p:nvPr/>
        </p:nvGrpSpPr>
        <p:grpSpPr>
          <a:xfrm>
            <a:off x="13861706" y="6160585"/>
            <a:ext cx="2979013" cy="1627392"/>
            <a:chOff x="0" y="-76200"/>
            <a:chExt cx="784596" cy="428613"/>
          </a:xfrm>
        </p:grpSpPr>
        <p:sp>
          <p:nvSpPr>
            <p:cNvPr id="158" name="Google Shape;158;p19"/>
            <p:cNvSpPr/>
            <p:nvPr/>
          </p:nvSpPr>
          <p:spPr>
            <a:xfrm>
              <a:off x="0" y="0"/>
              <a:ext cx="784596" cy="352413"/>
            </a:xfrm>
            <a:custGeom>
              <a:rect b="b" l="l" r="r" t="t"/>
              <a:pathLst>
                <a:path extrusionOk="0" h="352413" w="784596">
                  <a:moveTo>
                    <a:pt x="0" y="0"/>
                  </a:moveTo>
                  <a:lnTo>
                    <a:pt x="784596" y="0"/>
                  </a:lnTo>
                  <a:lnTo>
                    <a:pt x="784596" y="352413"/>
                  </a:lnTo>
                  <a:lnTo>
                    <a:pt x="0" y="352413"/>
                  </a:lnTo>
                  <a:close/>
                </a:path>
              </a:pathLst>
            </a:custGeom>
            <a:solidFill>
              <a:srgbClr val="004369"/>
            </a:solidFill>
            <a:ln>
              <a:noFill/>
            </a:ln>
          </p:spPr>
        </p:sp>
        <p:sp>
          <p:nvSpPr>
            <p:cNvPr id="159" name="Google Shape;159;p19"/>
            <p:cNvSpPr txBox="1"/>
            <p:nvPr/>
          </p:nvSpPr>
          <p:spPr>
            <a:xfrm>
              <a:off x="0" y="-76200"/>
              <a:ext cx="784596" cy="428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sqlite Store the data</a:t>
              </a:r>
              <a:endParaRPr/>
            </a:p>
          </p:txBody>
        </p:sp>
      </p:grpSp>
      <p:grpSp>
        <p:nvGrpSpPr>
          <p:cNvPr id="160" name="Google Shape;160;p19"/>
          <p:cNvGrpSpPr/>
          <p:nvPr/>
        </p:nvGrpSpPr>
        <p:grpSpPr>
          <a:xfrm>
            <a:off x="14726932" y="4894482"/>
            <a:ext cx="1248561" cy="1336350"/>
            <a:chOff x="0" y="-57150"/>
            <a:chExt cx="812800" cy="869950"/>
          </a:xfrm>
        </p:grpSpPr>
        <p:sp>
          <p:nvSpPr>
            <p:cNvPr id="161" name="Google Shape;161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406400" y="812800"/>
                  </a:moveTo>
                  <a:lnTo>
                    <a:pt x="0" y="406400"/>
                  </a:lnTo>
                  <a:lnTo>
                    <a:pt x="203200" y="406400"/>
                  </a:lnTo>
                  <a:lnTo>
                    <a:pt x="203200" y="0"/>
                  </a:lnTo>
                  <a:lnTo>
                    <a:pt x="609600" y="0"/>
                  </a:lnTo>
                  <a:lnTo>
                    <a:pt x="609600" y="406400"/>
                  </a:lnTo>
                  <a:lnTo>
                    <a:pt x="812800" y="406400"/>
                  </a:lnTo>
                  <a:lnTo>
                    <a:pt x="406400" y="812800"/>
                  </a:lnTo>
                  <a:close/>
                </a:path>
              </a:pathLst>
            </a:custGeom>
            <a:solidFill>
              <a:srgbClr val="004369"/>
            </a:solidFill>
            <a:ln>
              <a:noFill/>
            </a:ln>
          </p:spPr>
        </p:sp>
        <p:sp>
          <p:nvSpPr>
            <p:cNvPr id="162" name="Google Shape;162;p19"/>
            <p:cNvSpPr txBox="1"/>
            <p:nvPr/>
          </p:nvSpPr>
          <p:spPr>
            <a:xfrm>
              <a:off x="203200" y="-57150"/>
              <a:ext cx="406400" cy="7683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3" name="Google Shape;163;p19"/>
          <p:cNvGrpSpPr/>
          <p:nvPr/>
        </p:nvGrpSpPr>
        <p:grpSpPr>
          <a:xfrm>
            <a:off x="12819910" y="2083849"/>
            <a:ext cx="4729742" cy="2675142"/>
            <a:chOff x="0" y="-76200"/>
            <a:chExt cx="1245693" cy="704564"/>
          </a:xfrm>
        </p:grpSpPr>
        <p:sp>
          <p:nvSpPr>
            <p:cNvPr id="164" name="Google Shape;164;p19"/>
            <p:cNvSpPr/>
            <p:nvPr/>
          </p:nvSpPr>
          <p:spPr>
            <a:xfrm>
              <a:off x="0" y="0"/>
              <a:ext cx="1245693" cy="628364"/>
            </a:xfrm>
            <a:custGeom>
              <a:rect b="b" l="l" r="r" t="t"/>
              <a:pathLst>
                <a:path extrusionOk="0" h="628364" w="1245693">
                  <a:moveTo>
                    <a:pt x="0" y="0"/>
                  </a:moveTo>
                  <a:lnTo>
                    <a:pt x="1245693" y="0"/>
                  </a:lnTo>
                  <a:lnTo>
                    <a:pt x="1245693" y="628364"/>
                  </a:lnTo>
                  <a:lnTo>
                    <a:pt x="0" y="628364"/>
                  </a:lnTo>
                  <a:close/>
                </a:path>
              </a:pathLst>
            </a:custGeom>
            <a:solidFill>
              <a:srgbClr val="004369"/>
            </a:solidFill>
            <a:ln>
              <a:noFill/>
            </a:ln>
          </p:spPr>
        </p:sp>
        <p:sp>
          <p:nvSpPr>
            <p:cNvPr id="165" name="Google Shape;165;p19"/>
            <p:cNvSpPr txBox="1"/>
            <p:nvPr/>
          </p:nvSpPr>
          <p:spPr>
            <a:xfrm>
              <a:off x="0" y="-76200"/>
              <a:ext cx="1245693" cy="704564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Risk Calculation Module</a:t>
              </a:r>
              <a:endParaRPr/>
            </a:p>
            <a:p>
              <a:pPr indent="-323847" lvl="1" marL="647694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Exposure Score</a:t>
              </a:r>
              <a:endParaRPr/>
            </a:p>
            <a:p>
              <a:pPr indent="-323847" lvl="1" marL="647694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Risk Score</a:t>
              </a:r>
              <a:endParaRPr/>
            </a:p>
            <a:p>
              <a:pPr indent="-323847" lvl="1" marL="647694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999"/>
                <a:buFont typeface="Arial"/>
                <a:buChar char="•"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 Threat Score</a:t>
              </a:r>
              <a:endParaRPr/>
            </a:p>
          </p:txBody>
        </p:sp>
      </p:grpSp>
      <p:grpSp>
        <p:nvGrpSpPr>
          <p:cNvPr id="166" name="Google Shape;166;p19"/>
          <p:cNvGrpSpPr/>
          <p:nvPr/>
        </p:nvGrpSpPr>
        <p:grpSpPr>
          <a:xfrm>
            <a:off x="12128999" y="6449907"/>
            <a:ext cx="1381821" cy="1381821"/>
            <a:chOff x="0" y="0"/>
            <a:chExt cx="812800" cy="812800"/>
          </a:xfrm>
        </p:grpSpPr>
        <p:sp>
          <p:nvSpPr>
            <p:cNvPr id="167" name="Google Shape;167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369"/>
            </a:solidFill>
            <a:ln>
              <a:noFill/>
            </a:ln>
          </p:spPr>
        </p:sp>
        <p:sp>
          <p:nvSpPr>
            <p:cNvPr id="168" name="Google Shape;168;p19"/>
            <p:cNvSpPr txBox="1"/>
            <p:nvPr/>
          </p:nvSpPr>
          <p:spPr>
            <a:xfrm>
              <a:off x="101600" y="146050"/>
              <a:ext cx="711200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9" name="Google Shape;169;p19"/>
          <p:cNvGrpSpPr/>
          <p:nvPr/>
        </p:nvGrpSpPr>
        <p:grpSpPr>
          <a:xfrm>
            <a:off x="8180846" y="6204336"/>
            <a:ext cx="3782166" cy="1627392"/>
            <a:chOff x="0" y="-76200"/>
            <a:chExt cx="996126" cy="428613"/>
          </a:xfrm>
        </p:grpSpPr>
        <p:sp>
          <p:nvSpPr>
            <p:cNvPr id="170" name="Google Shape;170;p19"/>
            <p:cNvSpPr/>
            <p:nvPr/>
          </p:nvSpPr>
          <p:spPr>
            <a:xfrm>
              <a:off x="0" y="0"/>
              <a:ext cx="996126" cy="352413"/>
            </a:xfrm>
            <a:custGeom>
              <a:rect b="b" l="l" r="r" t="t"/>
              <a:pathLst>
                <a:path extrusionOk="0" h="352413" w="996126">
                  <a:moveTo>
                    <a:pt x="0" y="0"/>
                  </a:moveTo>
                  <a:lnTo>
                    <a:pt x="996126" y="0"/>
                  </a:lnTo>
                  <a:lnTo>
                    <a:pt x="996126" y="352413"/>
                  </a:lnTo>
                  <a:lnTo>
                    <a:pt x="0" y="352413"/>
                  </a:lnTo>
                  <a:close/>
                </a:path>
              </a:pathLst>
            </a:custGeom>
            <a:solidFill>
              <a:srgbClr val="004369"/>
            </a:solidFill>
            <a:ln>
              <a:noFill/>
            </a:ln>
          </p:spPr>
        </p:sp>
        <p:sp>
          <p:nvSpPr>
            <p:cNvPr id="171" name="Google Shape;171;p19"/>
            <p:cNvSpPr txBox="1"/>
            <p:nvPr/>
          </p:nvSpPr>
          <p:spPr>
            <a:xfrm>
              <a:off x="0" y="-76200"/>
              <a:ext cx="996126" cy="428613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2999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Backend send Data to Frontend</a:t>
              </a:r>
              <a:endParaRPr/>
            </a:p>
          </p:txBody>
        </p:sp>
      </p:grpSp>
      <p:grpSp>
        <p:nvGrpSpPr>
          <p:cNvPr id="172" name="Google Shape;172;p19"/>
          <p:cNvGrpSpPr/>
          <p:nvPr/>
        </p:nvGrpSpPr>
        <p:grpSpPr>
          <a:xfrm>
            <a:off x="6446599" y="6493658"/>
            <a:ext cx="1381821" cy="1381821"/>
            <a:chOff x="0" y="0"/>
            <a:chExt cx="812800" cy="812800"/>
          </a:xfrm>
        </p:grpSpPr>
        <p:sp>
          <p:nvSpPr>
            <p:cNvPr id="173" name="Google Shape;173;p19"/>
            <p:cNvSpPr/>
            <p:nvPr/>
          </p:nvSpPr>
          <p:spPr>
            <a:xfrm>
              <a:off x="0" y="0"/>
              <a:ext cx="812800" cy="812800"/>
            </a:xfrm>
            <a:custGeom>
              <a:rect b="b" l="l" r="r" t="t"/>
              <a:pathLst>
                <a:path extrusionOk="0" h="812800" w="812800">
                  <a:moveTo>
                    <a:pt x="0" y="406400"/>
                  </a:moveTo>
                  <a:lnTo>
                    <a:pt x="406400" y="0"/>
                  </a:lnTo>
                  <a:lnTo>
                    <a:pt x="406400" y="203200"/>
                  </a:lnTo>
                  <a:lnTo>
                    <a:pt x="812800" y="203200"/>
                  </a:lnTo>
                  <a:lnTo>
                    <a:pt x="812800" y="609600"/>
                  </a:lnTo>
                  <a:lnTo>
                    <a:pt x="406400" y="609600"/>
                  </a:lnTo>
                  <a:lnTo>
                    <a:pt x="406400" y="812800"/>
                  </a:lnTo>
                  <a:lnTo>
                    <a:pt x="0" y="406400"/>
                  </a:lnTo>
                  <a:close/>
                </a:path>
              </a:pathLst>
            </a:custGeom>
            <a:solidFill>
              <a:srgbClr val="004369"/>
            </a:solidFill>
            <a:ln>
              <a:noFill/>
            </a:ln>
          </p:spPr>
        </p:sp>
        <p:sp>
          <p:nvSpPr>
            <p:cNvPr id="174" name="Google Shape;174;p19"/>
            <p:cNvSpPr txBox="1"/>
            <p:nvPr/>
          </p:nvSpPr>
          <p:spPr>
            <a:xfrm>
              <a:off x="101600" y="146050"/>
              <a:ext cx="711200" cy="46355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5" name="Google Shape;175;p19"/>
          <p:cNvGrpSpPr/>
          <p:nvPr/>
        </p:nvGrpSpPr>
        <p:grpSpPr>
          <a:xfrm>
            <a:off x="519825" y="5316025"/>
            <a:ext cx="5764855" cy="3323395"/>
            <a:chOff x="0" y="-76200"/>
            <a:chExt cx="1461492" cy="842539"/>
          </a:xfrm>
        </p:grpSpPr>
        <p:sp>
          <p:nvSpPr>
            <p:cNvPr id="176" name="Google Shape;176;p19"/>
            <p:cNvSpPr/>
            <p:nvPr/>
          </p:nvSpPr>
          <p:spPr>
            <a:xfrm>
              <a:off x="0" y="0"/>
              <a:ext cx="1461492" cy="766339"/>
            </a:xfrm>
            <a:custGeom>
              <a:rect b="b" l="l" r="r" t="t"/>
              <a:pathLst>
                <a:path extrusionOk="0" h="766339" w="1461492">
                  <a:moveTo>
                    <a:pt x="0" y="0"/>
                  </a:moveTo>
                  <a:lnTo>
                    <a:pt x="1461492" y="0"/>
                  </a:lnTo>
                  <a:lnTo>
                    <a:pt x="1461492" y="766339"/>
                  </a:lnTo>
                  <a:lnTo>
                    <a:pt x="0" y="766339"/>
                  </a:lnTo>
                  <a:close/>
                </a:path>
              </a:pathLst>
            </a:custGeom>
            <a:solidFill>
              <a:srgbClr val="004369"/>
            </a:solidFill>
            <a:ln>
              <a:noFill/>
            </a:ln>
          </p:spPr>
        </p:sp>
        <p:sp>
          <p:nvSpPr>
            <p:cNvPr id="177" name="Google Shape;177;p19"/>
            <p:cNvSpPr txBox="1"/>
            <p:nvPr/>
          </p:nvSpPr>
          <p:spPr>
            <a:xfrm>
              <a:off x="0" y="-76200"/>
              <a:ext cx="1461492" cy="842539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2775" lIns="52775" spcFirstLastPara="1" rIns="52775" wrap="square" tIns="52775">
              <a:noAutofit/>
            </a:bodyPr>
            <a:lstStyle/>
            <a:p>
              <a:pPr indent="0" lvl="0" marL="0" marR="0" rtl="0" algn="ctr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0" i="0" lang="en-US" sz="3115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React receives data and built Dashboard</a:t>
              </a:r>
              <a:endParaRPr sz="1454"/>
            </a:p>
            <a:p>
              <a:pPr indent="-336439" lvl="1" marL="672877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116"/>
                <a:buFont typeface="Arial"/>
                <a:buChar char="•"/>
              </a:pPr>
              <a:r>
                <a:rPr b="0" i="0" lang="en-US" sz="3115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KPI Cards</a:t>
              </a:r>
              <a:endParaRPr sz="1454"/>
            </a:p>
            <a:p>
              <a:pPr indent="-336439" lvl="1" marL="672877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116"/>
                <a:buFont typeface="Arial"/>
                <a:buChar char="•"/>
              </a:pPr>
              <a:r>
                <a:rPr b="0" i="0" lang="en-US" sz="3115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Open Ports Table</a:t>
              </a:r>
              <a:endParaRPr sz="1454"/>
            </a:p>
            <a:p>
              <a:pPr indent="-336439" lvl="1" marL="672877" marR="0" rtl="0" algn="l">
                <a:lnSpc>
                  <a:spcPct val="140013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3116"/>
                <a:buFont typeface="Arial"/>
                <a:buChar char="•"/>
              </a:pPr>
              <a:r>
                <a:rPr b="0" i="0" lang="en-US" sz="3115" u="none" cap="none" strike="noStrike">
                  <a:solidFill>
                    <a:srgbClr val="FFFFFF"/>
                  </a:solidFill>
                  <a:latin typeface="Poppins"/>
                  <a:ea typeface="Poppins"/>
                  <a:cs typeface="Poppins"/>
                  <a:sym typeface="Poppins"/>
                </a:rPr>
                <a:t> Donut Chart / Line Chart</a:t>
              </a:r>
              <a:endParaRPr sz="1454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56"/>
            </a:gs>
          </a:gsLst>
          <a:lin ang="0" scaled="0"/>
        </a:gradFill>
      </p:bgPr>
    </p:bg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p20"/>
          <p:cNvSpPr txBox="1"/>
          <p:nvPr/>
        </p:nvSpPr>
        <p:spPr>
          <a:xfrm>
            <a:off x="4240650" y="1240100"/>
            <a:ext cx="9356700" cy="1077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70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TECH STACK</a:t>
            </a:r>
            <a:endParaRPr/>
          </a:p>
        </p:txBody>
      </p:sp>
      <p:sp>
        <p:nvSpPr>
          <p:cNvPr id="183" name="Google Shape;183;p20"/>
          <p:cNvSpPr txBox="1"/>
          <p:nvPr/>
        </p:nvSpPr>
        <p:spPr>
          <a:xfrm>
            <a:off x="1926000" y="3115298"/>
            <a:ext cx="14434800" cy="7134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0208" lvl="1" marL="820417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99"/>
              <a:buFont typeface="Arial"/>
              <a:buChar char="•"/>
            </a:pPr>
            <a:r>
              <a:rPr b="1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Backend: </a:t>
            </a:r>
            <a:r>
              <a:rPr b="0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Python + FastAPI handles scanning &amp; risk scoring.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08" lvl="1" marL="820417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99"/>
              <a:buFont typeface="Arial"/>
              <a:buChar char="•"/>
            </a:pPr>
            <a:r>
              <a:rPr b="1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Database: </a:t>
            </a:r>
            <a:r>
              <a:rPr b="0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Sqlite3 stores scan results &amp; risk data.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08" lvl="1" marL="820417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99"/>
              <a:buFont typeface="Arial"/>
              <a:buChar char="•"/>
            </a:pPr>
            <a:r>
              <a:rPr b="1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Frontend:</a:t>
            </a:r>
            <a:r>
              <a:rPr b="0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React dashboard with KPI cards, tables, charts.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08" lvl="1" marL="820417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99"/>
              <a:buFont typeface="Arial"/>
              <a:buChar char="•"/>
            </a:pPr>
            <a:r>
              <a:rPr b="1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External Integration: </a:t>
            </a:r>
            <a:r>
              <a:rPr b="0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VirusTotal API for threat intelligence.</a:t>
            </a:r>
            <a:endParaRPr/>
          </a:p>
          <a:p>
            <a:pPr indent="0" lvl="0" marL="0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7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08" lvl="1" marL="820417" marR="0" rtl="0" algn="just">
              <a:lnSpc>
                <a:spcPct val="14001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99"/>
              <a:buFont typeface="Arial"/>
              <a:buChar char="•"/>
            </a:pPr>
            <a:r>
              <a:rPr b="1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Alerts:</a:t>
            </a:r>
            <a:r>
              <a:rPr b="0" i="0" lang="en-US" sz="37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smtblib for Email Notifications.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56"/>
            </a:gs>
          </a:gsLst>
          <a:lin ang="0" scaled="0"/>
        </a:gradFill>
      </p:bgPr>
    </p:bg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p21"/>
          <p:cNvSpPr txBox="1"/>
          <p:nvPr/>
        </p:nvSpPr>
        <p:spPr>
          <a:xfrm>
            <a:off x="7933200" y="4943792"/>
            <a:ext cx="9525" cy="34226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772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89" name="Google Shape;189;p21"/>
          <p:cNvSpPr txBox="1"/>
          <p:nvPr/>
        </p:nvSpPr>
        <p:spPr>
          <a:xfrm>
            <a:off x="4626718" y="895350"/>
            <a:ext cx="75753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FLOW</a:t>
            </a:r>
            <a:endParaRPr/>
          </a:p>
        </p:txBody>
      </p:sp>
      <p:sp>
        <p:nvSpPr>
          <p:cNvPr id="190" name="Google Shape;190;p21"/>
          <p:cNvSpPr txBox="1"/>
          <p:nvPr/>
        </p:nvSpPr>
        <p:spPr>
          <a:xfrm>
            <a:off x="1490865" y="2924492"/>
            <a:ext cx="15768435" cy="464693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Data comes from Nmap scan and VirusTotal API.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Process raw data to calculate risk, exposure, and threat scores.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Show results in a React dashboard.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8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410210" lvl="1" marL="820421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Trigger email alerts if risk is high or medium.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56"/>
            </a:gs>
          </a:gsLst>
          <a:lin ang="0" scaled="0"/>
        </a:gradFill>
      </p:bgPr>
    </p:bg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22"/>
          <p:cNvSpPr/>
          <p:nvPr/>
        </p:nvSpPr>
        <p:spPr>
          <a:xfrm>
            <a:off x="1854496" y="3594764"/>
            <a:ext cx="2658197" cy="2513204"/>
          </a:xfrm>
          <a:custGeom>
            <a:rect b="b" l="l" r="r" t="t"/>
            <a:pathLst>
              <a:path extrusionOk="0" h="2513204" w="2658197">
                <a:moveTo>
                  <a:pt x="0" y="0"/>
                </a:moveTo>
                <a:lnTo>
                  <a:pt x="2658197" y="0"/>
                </a:lnTo>
                <a:lnTo>
                  <a:pt x="2658197" y="2513204"/>
                </a:lnTo>
                <a:lnTo>
                  <a:pt x="0" y="251320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96" name="Google Shape;196;p22"/>
          <p:cNvSpPr txBox="1"/>
          <p:nvPr/>
        </p:nvSpPr>
        <p:spPr>
          <a:xfrm>
            <a:off x="4213608" y="895350"/>
            <a:ext cx="9512751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CHALLENGES FACED</a:t>
            </a:r>
            <a:endParaRPr/>
          </a:p>
        </p:txBody>
      </p:sp>
      <p:sp>
        <p:nvSpPr>
          <p:cNvPr id="197" name="Google Shape;197;p22"/>
          <p:cNvSpPr txBox="1"/>
          <p:nvPr/>
        </p:nvSpPr>
        <p:spPr>
          <a:xfrm>
            <a:off x="5590998" y="2731753"/>
            <a:ext cx="11947117" cy="5981396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AutoNum type="arabicPeriod"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Designing a  clean and scalable Archiitecture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→ Organizing backend into services, routes and main FastAPI for maitainability.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→ Handling database and storing data in sqlite3.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AutoNum type="arabicPeriod"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Real-Time Scan Data Handling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→ Fecthing and processing live scan data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→ Calculating multiple metrics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    → Ensuring calculations are consistent and meaningfull. 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56"/>
            </a:gs>
          </a:gsLst>
          <a:lin ang="0" scaled="0"/>
        </a:gra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Google Shape;202;p23"/>
          <p:cNvSpPr txBox="1"/>
          <p:nvPr/>
        </p:nvSpPr>
        <p:spPr>
          <a:xfrm>
            <a:off x="2170903" y="547317"/>
            <a:ext cx="6021752" cy="119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CONCLUSION</a:t>
            </a:r>
            <a:endParaRPr/>
          </a:p>
        </p:txBody>
      </p:sp>
      <p:sp>
        <p:nvSpPr>
          <p:cNvPr id="203" name="Google Shape;203;p23"/>
          <p:cNvSpPr txBox="1"/>
          <p:nvPr/>
        </p:nvSpPr>
        <p:spPr>
          <a:xfrm>
            <a:off x="496394" y="1674442"/>
            <a:ext cx="11461199" cy="778172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Successfully developed a comprehensive risk assessment system for open ports and threat analysis.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Enabled real-time visualization of risks to help security teams make informed decisions.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Implemented automated alerts to proactively notify about medium and high-risk vulnerabilities.</a:t>
            </a:r>
            <a:endParaRPr/>
          </a:p>
          <a:p>
            <a:pPr indent="0" lvl="0" marL="0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399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  <a:p>
            <a:pPr indent="-367030" lvl="1" marL="734059" marR="0" rtl="0" algn="l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399"/>
              <a:buFont typeface="Arial"/>
              <a:buChar char="•"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Delivered a practical solution that demonstrates the integration of vulnerability scanning, threat intelligence, and data visualization.</a:t>
            </a:r>
            <a:endParaRPr/>
          </a:p>
        </p:txBody>
      </p:sp>
      <p:sp>
        <p:nvSpPr>
          <p:cNvPr id="204" name="Google Shape;204;p23"/>
          <p:cNvSpPr/>
          <p:nvPr/>
        </p:nvSpPr>
        <p:spPr>
          <a:xfrm>
            <a:off x="11957600" y="0"/>
            <a:ext cx="6509517" cy="10422379"/>
          </a:xfrm>
          <a:custGeom>
            <a:rect b="b" l="l" r="r" t="t"/>
            <a:pathLst>
              <a:path extrusionOk="0" h="923765" w="664067">
                <a:moveTo>
                  <a:pt x="21003" y="0"/>
                </a:moveTo>
                <a:lnTo>
                  <a:pt x="643064" y="0"/>
                </a:lnTo>
                <a:cubicBezTo>
                  <a:pt x="654663" y="0"/>
                  <a:pt x="664067" y="9403"/>
                  <a:pt x="664067" y="21003"/>
                </a:cubicBezTo>
                <a:lnTo>
                  <a:pt x="664067" y="902762"/>
                </a:lnTo>
                <a:cubicBezTo>
                  <a:pt x="664067" y="908332"/>
                  <a:pt x="661854" y="913674"/>
                  <a:pt x="657915" y="917613"/>
                </a:cubicBezTo>
                <a:cubicBezTo>
                  <a:pt x="653976" y="921552"/>
                  <a:pt x="648634" y="923765"/>
                  <a:pt x="643064" y="923765"/>
                </a:cubicBezTo>
                <a:lnTo>
                  <a:pt x="21003" y="923765"/>
                </a:lnTo>
                <a:cubicBezTo>
                  <a:pt x="15432" y="923765"/>
                  <a:pt x="10090" y="921552"/>
                  <a:pt x="6152" y="917613"/>
                </a:cubicBezTo>
                <a:cubicBezTo>
                  <a:pt x="2213" y="913674"/>
                  <a:pt x="0" y="908332"/>
                  <a:pt x="0" y="902762"/>
                </a:cubicBezTo>
                <a:lnTo>
                  <a:pt x="0" y="21003"/>
                </a:lnTo>
                <a:cubicBezTo>
                  <a:pt x="0" y="15432"/>
                  <a:pt x="2213" y="10090"/>
                  <a:pt x="6152" y="6152"/>
                </a:cubicBezTo>
                <a:cubicBezTo>
                  <a:pt x="10090" y="2213"/>
                  <a:pt x="15432" y="0"/>
                  <a:pt x="21003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54332" r="-54332" t="0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56"/>
            </a:gs>
          </a:gsLst>
          <a:lin ang="0" scaled="0"/>
        </a:gra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24"/>
          <p:cNvSpPr/>
          <p:nvPr/>
        </p:nvSpPr>
        <p:spPr>
          <a:xfrm>
            <a:off x="1028700" y="3541220"/>
            <a:ext cx="4144945" cy="4114800"/>
          </a:xfrm>
          <a:custGeom>
            <a:rect b="b" l="l" r="r" t="t"/>
            <a:pathLst>
              <a:path extrusionOk="0" h="4114800" w="4144945">
                <a:moveTo>
                  <a:pt x="0" y="0"/>
                </a:moveTo>
                <a:lnTo>
                  <a:pt x="4144945" y="0"/>
                </a:lnTo>
                <a:lnTo>
                  <a:pt x="4144945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210" name="Google Shape;210;p24"/>
          <p:cNvSpPr txBox="1"/>
          <p:nvPr/>
        </p:nvSpPr>
        <p:spPr>
          <a:xfrm>
            <a:off x="2817975" y="895350"/>
            <a:ext cx="12149700" cy="10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9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WHAT I HAVE LEARNT?</a:t>
            </a:r>
            <a:endParaRPr/>
          </a:p>
        </p:txBody>
      </p:sp>
      <p:sp>
        <p:nvSpPr>
          <p:cNvPr id="211" name="Google Shape;211;p24"/>
          <p:cNvSpPr txBox="1"/>
          <p:nvPr/>
        </p:nvSpPr>
        <p:spPr>
          <a:xfrm>
            <a:off x="5544635" y="2420072"/>
            <a:ext cx="12149704" cy="664718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0210" lvl="1" marL="82042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Gained practical experience in Python, FastAPI, and React integration.</a:t>
            </a:r>
            <a:endParaRPr/>
          </a:p>
          <a:p>
            <a:pPr indent="-410210" lvl="1" marL="82042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Learned risk scoring logic and data visualization techniques.</a:t>
            </a:r>
            <a:endParaRPr/>
          </a:p>
          <a:p>
            <a:pPr indent="-410210" lvl="1" marL="82042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Developed problem-solving skills, especially handling dynamic data and unknown ports.</a:t>
            </a:r>
            <a:endParaRPr/>
          </a:p>
          <a:p>
            <a:pPr indent="-410210" lvl="1" marL="82042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Learned to integrate external APIs (VirusTotal) and handle JSON responses.</a:t>
            </a:r>
            <a:endParaRPr/>
          </a:p>
          <a:p>
            <a:pPr indent="-410210" lvl="1" marL="820421" marR="0" rtl="0" algn="just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Arial"/>
              <a:buChar char="•"/>
            </a:pPr>
            <a:r>
              <a:rPr b="0" i="0" lang="en-US" sz="38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Improved debugging, project planning, and professional presentation skills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gradFill>
          <a:gsLst>
            <a:gs pos="0">
              <a:srgbClr val="000000"/>
            </a:gs>
            <a:gs pos="100000">
              <a:srgbClr val="001B56"/>
            </a:gs>
          </a:gsLst>
          <a:lin ang="0" scaled="0"/>
        </a:gradFill>
      </p:bgPr>
    </p:bg>
    <p:spTree>
      <p:nvGrpSpPr>
        <p:cNvPr id="215" name="Shape 2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Google Shape;216;p25"/>
          <p:cNvSpPr/>
          <p:nvPr/>
        </p:nvSpPr>
        <p:spPr>
          <a:xfrm>
            <a:off x="0" y="6675600"/>
            <a:ext cx="18281802" cy="3884867"/>
          </a:xfrm>
          <a:custGeom>
            <a:rect b="b" l="l" r="r" t="t"/>
            <a:pathLst>
              <a:path extrusionOk="0" h="1371533" w="7072264">
                <a:moveTo>
                  <a:pt x="8733" y="0"/>
                </a:moveTo>
                <a:lnTo>
                  <a:pt x="7063531" y="0"/>
                </a:lnTo>
                <a:cubicBezTo>
                  <a:pt x="7065847" y="0"/>
                  <a:pt x="7068069" y="920"/>
                  <a:pt x="7069706" y="2558"/>
                </a:cubicBezTo>
                <a:cubicBezTo>
                  <a:pt x="7071344" y="4196"/>
                  <a:pt x="7072264" y="6417"/>
                  <a:pt x="7072264" y="8733"/>
                </a:cubicBezTo>
                <a:lnTo>
                  <a:pt x="7072264" y="1362799"/>
                </a:lnTo>
                <a:cubicBezTo>
                  <a:pt x="7072264" y="1365116"/>
                  <a:pt x="7071344" y="1367337"/>
                  <a:pt x="7069706" y="1368975"/>
                </a:cubicBezTo>
                <a:cubicBezTo>
                  <a:pt x="7068069" y="1370613"/>
                  <a:pt x="7065847" y="1371533"/>
                  <a:pt x="7063531" y="1371533"/>
                </a:cubicBezTo>
                <a:lnTo>
                  <a:pt x="8733" y="1371533"/>
                </a:lnTo>
                <a:cubicBezTo>
                  <a:pt x="6417" y="1371533"/>
                  <a:pt x="4196" y="1370613"/>
                  <a:pt x="2558" y="1368975"/>
                </a:cubicBezTo>
                <a:cubicBezTo>
                  <a:pt x="920" y="1367337"/>
                  <a:pt x="0" y="1365116"/>
                  <a:pt x="0" y="1362799"/>
                </a:cubicBezTo>
                <a:lnTo>
                  <a:pt x="0" y="8733"/>
                </a:lnTo>
                <a:cubicBezTo>
                  <a:pt x="0" y="6417"/>
                  <a:pt x="920" y="4196"/>
                  <a:pt x="2558" y="2558"/>
                </a:cubicBezTo>
                <a:cubicBezTo>
                  <a:pt x="4196" y="920"/>
                  <a:pt x="6417" y="0"/>
                  <a:pt x="8733" y="0"/>
                </a:cubicBez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-86003" l="0" r="0" t="-86003"/>
            </a:stretch>
          </a:blip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7" name="Google Shape;217;p25"/>
          <p:cNvSpPr txBox="1"/>
          <p:nvPr/>
        </p:nvSpPr>
        <p:spPr>
          <a:xfrm>
            <a:off x="5090418" y="3962969"/>
            <a:ext cx="8107164" cy="1180531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MEGHANA KOTHA</a:t>
            </a:r>
            <a:endParaRPr/>
          </a:p>
          <a:p>
            <a:pPr indent="0" lvl="0" marL="0" marR="0" rtl="0" algn="ctr">
              <a:lnSpc>
                <a:spcPct val="140011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3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Mail Id : meghanakotha105@gmail.com</a:t>
            </a:r>
            <a:endParaRPr/>
          </a:p>
        </p:txBody>
      </p:sp>
      <p:sp>
        <p:nvSpPr>
          <p:cNvPr id="218" name="Google Shape;218;p25"/>
          <p:cNvSpPr txBox="1"/>
          <p:nvPr/>
        </p:nvSpPr>
        <p:spPr>
          <a:xfrm>
            <a:off x="4842523" y="1041000"/>
            <a:ext cx="8827800" cy="1723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3999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199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